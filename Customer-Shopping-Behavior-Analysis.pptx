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Geist SemiBold"/>
      <p:regular r:id="rId201314"/>
    </p:embeddedFont>
    <p:embeddedFont>
      <p:font typeface="Geist Bold"/>
      <p:regular r:id="rId201315"/>
    </p:embeddedFont>
    <p:embeddedFont>
      <p:font typeface="Geist Black"/>
      <p:regular r:id="rId201316"/>
    </p:embeddedFont>
    <p:embeddedFont>
      <p:font typeface="Geist"/>
      <p:regular r:id="rId201317"/>
    </p:embeddedFont>
    <p:embeddedFont>
      <p:font typeface="Noto Serif Black"/>
      <p:regular r:id="rId201318"/>
    </p:embeddedFont>
    <p:embeddedFont>
      <p:font typeface="Noto Serif"/>
      <p:regular r:id="rId201319"/>
    </p:embeddedFont>
    <p:embeddedFont>
      <p:font typeface="Noto Serif SemiBold"/>
      <p:regular r:id="rId201320"/>
    </p:embeddedFont>
    <p:embeddedFont>
      <p:font typeface="Noto Serif Bold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Analysis of 3,900 transactions to reveal spending patterns, segments, product preferences, and subscription behavior to guide strategy.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38251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Dataset at a Glance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256631"/>
            <a:ext cx="1972915" cy="3218755"/>
          </a:xfrm>
          <a:prstGeom prst="roundRect">
            <a:avLst>
              <a:gd name="adj" fmla="val 8623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451993"/>
            <a:ext cx="15822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Scope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2860675"/>
            <a:ext cx="158220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3,900 rows × 18 columns covering demographics, purchases, and behavior.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2823397" y="2256631"/>
            <a:ext cx="1972915" cy="3218755"/>
          </a:xfrm>
          <a:prstGeom prst="roundRect">
            <a:avLst>
              <a:gd name="adj" fmla="val 8623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18754" y="2451993"/>
            <a:ext cx="15822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Key Features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3018754" y="2860675"/>
            <a:ext cx="1582202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Age, Gender, Location, Item, Category, Purchase Amount, Season, Rating, Subscription, Shipping, Discounts.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985320" y="2256631"/>
            <a:ext cx="1972915" cy="3218755"/>
          </a:xfrm>
          <a:prstGeom prst="roundRect">
            <a:avLst>
              <a:gd name="adj" fmla="val 8623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80677" y="2451993"/>
            <a:ext cx="15822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Data Quality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180677" y="2860675"/>
            <a:ext cx="158220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Missing: 37 values in Review Rating; handled during cleaning.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482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Data Preparation (Python)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57165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Loaded with pandas; used df.info() and .describe() for structure and summary. Renamed columns to snake_case for consistency. Imputed missing review ratings using category median.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936901"/>
            <a:ext cx="5203794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Created age_group bins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Derived purchase_frequency_days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Dropped promo_code_used (redundant with discount_applied)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2776" y="2391569"/>
            <a:ext cx="5203794" cy="2948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2589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Database Integration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712641"/>
            <a:ext cx="4070744" cy="23067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99726" y="3412331"/>
            <a:ext cx="63367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Cleaned DataFrame loaded into PostgreSQL for SQL analysis and aggregation. Enabled business queries for revenue, segments, discounts, and product ranks.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507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Revenue &amp; Demographics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14873"/>
            <a:ext cx="3523070" cy="30310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23081" y="1484809"/>
            <a:ext cx="6913390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Male customers generated higher total revenue in the dataset. Use this insight alongside age-group analysis for targeted campaigns.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081" y="2220913"/>
            <a:ext cx="6913390" cy="39176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3905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Top Products &amp; Discounts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107730"/>
            <a:ext cx="1541622" cy="9527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39331" y="3107730"/>
            <a:ext cx="35383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Top Rated Items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439331" y="3516412"/>
            <a:ext cx="353835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Gloves, Sandals, Boots, Hat, Skirt (average ratings 3.86–3.78)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915" y="3107730"/>
            <a:ext cx="1541722" cy="9527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91870" y="3107730"/>
            <a:ext cx="35383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Discount-Dependent Products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7991870" y="3811687"/>
            <a:ext cx="353835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Hat 50.00%, Sneakers 49.66%, Coat 49.07%, Sweater 48.17%, Pants 47.37 — high discount rates noted.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507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Customer Segments &amp; Loyalty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650405"/>
            <a:ext cx="3523070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Segment classification based on purchase history: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61475" y="2386509"/>
            <a:ext cx="3523070" cy="1084759"/>
          </a:xfrm>
          <a:prstGeom prst="roundRect">
            <a:avLst>
              <a:gd name="adj" fmla="val 14702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025" y="2570063"/>
            <a:ext cx="315597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Loyal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5025" y="3013075"/>
            <a:ext cx="315597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3,116 customers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61475" y="3637359"/>
            <a:ext cx="3523070" cy="1084759"/>
          </a:xfrm>
          <a:prstGeom prst="roundRect">
            <a:avLst>
              <a:gd name="adj" fmla="val 14702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5025" y="3820914"/>
            <a:ext cx="315597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Returning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5025" y="4263926"/>
            <a:ext cx="315597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701 customers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61475" y="4888210"/>
            <a:ext cx="3523070" cy="1084759"/>
          </a:xfrm>
          <a:prstGeom prst="roundRect">
            <a:avLst>
              <a:gd name="adj" fmla="val 14702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025" y="5071765"/>
            <a:ext cx="315597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New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5025" y="5514777"/>
            <a:ext cx="315597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83 customers</a:t>
            </a:r>
            <a:endParaRPr lang="en-US" sz="13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3081" y="1522214"/>
            <a:ext cx="6913390" cy="391765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623081" y="5626695"/>
            <a:ext cx="6913390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Repeat buyers (&gt;5 purchases): more likely to be non-subscribers overall, but loyalty programs can convert returning buyers into Loyal segment.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Age Group Revenue &amp; Sales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50541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Young Adults contribute the most revenue; prioritize targeted marketing and product positioning for this group. Also consider Express-shipping preferences for higher spend.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6341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Key Dashboard Metrics (Power BI)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86061"/>
            <a:ext cx="7115493" cy="3829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193308"/>
            <a:ext cx="3541525" cy="448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3.9K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5782766"/>
            <a:ext cx="3541525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325036" y="5193308"/>
            <a:ext cx="3541525" cy="448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$59.76</a:t>
            </a:r>
            <a:endParaRPr lang="en-US" sz="3500" dirty="0"/>
          </a:p>
        </p:txBody>
      </p:sp>
      <p:sp>
        <p:nvSpPr>
          <p:cNvPr id="7" name="Text 4"/>
          <p:cNvSpPr/>
          <p:nvPr/>
        </p:nvSpPr>
        <p:spPr>
          <a:xfrm>
            <a:off x="4325036" y="5782766"/>
            <a:ext cx="3541525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Avg Purchase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8596" y="5193308"/>
            <a:ext cx="3541525" cy="448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3.75</a:t>
            </a:r>
            <a:endParaRPr lang="en-US" sz="3500" dirty="0"/>
          </a:p>
        </p:txBody>
      </p:sp>
      <p:sp>
        <p:nvSpPr>
          <p:cNvPr id="9" name="Text 6"/>
          <p:cNvSpPr/>
          <p:nvPr/>
        </p:nvSpPr>
        <p:spPr>
          <a:xfrm>
            <a:off x="7988596" y="5782766"/>
            <a:ext cx="3541525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Avg Rating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1475" y="6104930"/>
            <a:ext cx="11478330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Visuals include subscription donut (27% yes), revenue &amp; sales by category, and age-group breakouts used for interactive exploration.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0373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Business Recommendations</a:t>
            </a:r>
            <a:endParaRPr lang="en-US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446113"/>
            <a:ext cx="2600756" cy="20538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7970" y="1636415"/>
            <a:ext cx="2143964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Boost Subscriptions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27970" y="1997075"/>
            <a:ext cx="2143964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Promote exclusive subscriber benefits to increase recurring revenue.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7405" y="1446113"/>
            <a:ext cx="2600855" cy="20538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83900" y="1636415"/>
            <a:ext cx="2144064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Loyalty Programs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3683900" y="1997075"/>
            <a:ext cx="2144064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Reward repeat buyers to grow the Loyal segment and lifetime value.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3435" y="1446113"/>
            <a:ext cx="2600756" cy="20538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39930" y="1636415"/>
            <a:ext cx="2143964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Review Discount Policy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6439930" y="2264668"/>
            <a:ext cx="2143964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Balance promotional lift with margin control; monitor high discount products.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29365" y="1446113"/>
            <a:ext cx="2600855" cy="20538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95860" y="1636415"/>
            <a:ext cx="2144064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Product Positioning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9195860" y="1997075"/>
            <a:ext cx="2144064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Feature top-rated and best-selling items prominently in campaigns.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3655120"/>
            <a:ext cx="2600756" cy="178623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27970" y="3845421"/>
            <a:ext cx="2143964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Targeted Marketing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927970" y="4206081"/>
            <a:ext cx="2143964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Focus on high-revenue age groups and express-shipping users for tailored offers.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661475" y="5615980"/>
            <a:ext cx="10868745" cy="641648"/>
          </a:xfrm>
          <a:prstGeom prst="roundRect">
            <a:avLst>
              <a:gd name="adj" fmla="val 24027"/>
            </a:avLst>
          </a:prstGeom>
          <a:solidFill>
            <a:srgbClr val="CCFFEF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722" y="5841802"/>
            <a:ext cx="214109" cy="17125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18078" y="5813921"/>
            <a:ext cx="10750479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Next steps: A/B test subscription offers, refine discount thresholds, and update Power BI dashboards with live SQL views.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2026-09-05T17:02:02Z</dcterms:created>
  <dcterms:modified xsi:type="dcterms:W3CDTF">2026-09-05T17:02:02Z</dcterms:modified>
</cp:coreProperties>
</file>